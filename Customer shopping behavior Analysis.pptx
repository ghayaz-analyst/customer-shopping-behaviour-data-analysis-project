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33" autoAdjust="0"/>
    <p:restoredTop sz="94343" autoAdjust="0"/>
  </p:normalViewPr>
  <p:slideViewPr>
    <p:cSldViewPr snapToGrid="0">
      <p:cViewPr>
        <p:scale>
          <a:sx n="66" d="100"/>
          <a:sy n="66" d="100"/>
        </p:scale>
        <p:origin x="930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082209022117851E-4"/>
          <c:y val="0.1045838696914478"/>
          <c:w val="0.78315162338922872"/>
          <c:h val="0.9378458077731447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</c:spPr>
          <c:dPt>
            <c:idx val="0"/>
            <c:bubble3D val="0"/>
            <c:explosion val="4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08D9-44EC-81E2-6191160D778D}"/>
              </c:ext>
            </c:extLst>
          </c:dPt>
          <c:dPt>
            <c:idx val="1"/>
            <c:bubble3D val="0"/>
            <c:spPr>
              <a:solidFill>
                <a:schemeClr val="accent4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8D9-44EC-81E2-6191160D778D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D9-44EC-81E2-6191160D77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04170767716536E-3"/>
          <c:y val="5.156249682809444E-2"/>
          <c:w val="0.63229170767716536"/>
          <c:h val="0.9484375031719055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4">
                <a:lumMod val="50000"/>
              </a:schemeClr>
            </a:solidFill>
          </c:spPr>
          <c:dPt>
            <c:idx val="0"/>
            <c:bubble3D val="0"/>
            <c:explosion val="1"/>
            <c:spPr>
              <a:solidFill>
                <a:schemeClr val="accent4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A71-4EB6-B41C-F4E561F9F71C}"/>
              </c:ext>
            </c:extLst>
          </c:dPt>
          <c:dPt>
            <c:idx val="1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A71-4EB6-B41C-F4E561F9F71C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</c:v>
                </c:pt>
                <c:pt idx="1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A71-4EB6-B41C-F4E561F9F7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04170767716536E-3"/>
          <c:y val="5.156249682809444E-2"/>
          <c:w val="0.63229170767716536"/>
          <c:h val="0.9484375031719055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4">
                <a:lumMod val="50000"/>
              </a:schemeClr>
            </a:solidFill>
          </c:spPr>
          <c:dPt>
            <c:idx val="0"/>
            <c:bubble3D val="0"/>
            <c:explosion val="1"/>
            <c:spPr>
              <a:solidFill>
                <a:schemeClr val="accent4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277-405C-BA85-FB968EED9404}"/>
              </c:ext>
            </c:extLst>
          </c:dPt>
          <c:dPt>
            <c:idx val="1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277-405C-BA85-FB968EED9404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</c:v>
                </c:pt>
                <c:pt idx="1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277-405C-BA85-FB968EED94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04170767716536E-3"/>
          <c:y val="5.156249682809444E-2"/>
          <c:w val="0.63229170767716536"/>
          <c:h val="0.9484375031719055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4">
                <a:lumMod val="50000"/>
              </a:schemeClr>
            </a:solidFill>
          </c:spPr>
          <c:dPt>
            <c:idx val="0"/>
            <c:bubble3D val="0"/>
            <c:explosion val="1"/>
            <c:spPr>
              <a:solidFill>
                <a:schemeClr val="accent4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96F-4301-8622-7F113331A0CE}"/>
              </c:ext>
            </c:extLst>
          </c:dPt>
          <c:dPt>
            <c:idx val="1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96F-4301-8622-7F113331A0CE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96F-4301-8622-7F113331A0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5AA57-7589-4944-BBDB-93D44F3B813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7AA6D-E99B-4B68-AD40-5636EFD95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554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7AA6D-E99B-4B68-AD40-5636EFD95B0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215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7AA6D-E99B-4B68-AD40-5636EFD95B0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80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7AA6D-E99B-4B68-AD40-5636EFD95B0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6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7AA6D-E99B-4B68-AD40-5636EFD95B0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973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7AA6D-E99B-4B68-AD40-5636EFD95B0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625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CDB41-DF74-45E1-A8BA-0B7B373013B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2911-8678-47FA-B0DF-EF5DA22C8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80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CDB41-DF74-45E1-A8BA-0B7B373013B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2911-8678-47FA-B0DF-EF5DA22C8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45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CDB41-DF74-45E1-A8BA-0B7B373013B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2911-8678-47FA-B0DF-EF5DA22C8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450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CDB41-DF74-45E1-A8BA-0B7B373013B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2911-8678-47FA-B0DF-EF5DA22C8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53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CDB41-DF74-45E1-A8BA-0B7B373013B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2911-8678-47FA-B0DF-EF5DA22C8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06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CDB41-DF74-45E1-A8BA-0B7B373013B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2911-8678-47FA-B0DF-EF5DA22C8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36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CDB41-DF74-45E1-A8BA-0B7B373013B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2911-8678-47FA-B0DF-EF5DA22C8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689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CDB41-DF74-45E1-A8BA-0B7B373013B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2911-8678-47FA-B0DF-EF5DA22C8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528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CDB41-DF74-45E1-A8BA-0B7B373013B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2911-8678-47FA-B0DF-EF5DA22C8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947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CDB41-DF74-45E1-A8BA-0B7B373013B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2911-8678-47FA-B0DF-EF5DA22C8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99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CDB41-DF74-45E1-A8BA-0B7B373013B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2911-8678-47FA-B0DF-EF5DA22C8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507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CDB41-DF74-45E1-A8BA-0B7B373013B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F2911-8678-47FA-B0DF-EF5DA22C8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96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9458" y="1878292"/>
            <a:ext cx="7146387" cy="2362982"/>
          </a:xfrm>
          <a:noFill/>
        </p:spPr>
        <p:txBody>
          <a:bodyPr anchor="ctr"/>
          <a:lstStyle/>
          <a:p>
            <a:r>
              <a:rPr lang="en-US" dirty="0" smtClean="0">
                <a:solidFill>
                  <a:schemeClr val="accent4">
                    <a:lumMod val="75000"/>
                  </a:schemeClr>
                </a:solidFill>
                <a:latin typeface="Constantia" panose="02030602050306030303" pitchFamily="18" charset="0"/>
              </a:rPr>
              <a:t>Customer shopping behavior Analysis</a:t>
            </a:r>
            <a:endParaRPr lang="en-US" dirty="0">
              <a:solidFill>
                <a:schemeClr val="accent4">
                  <a:lumMod val="75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79963" y="3973005"/>
            <a:ext cx="7212037" cy="1576631"/>
          </a:xfrm>
        </p:spPr>
        <p:txBody>
          <a:bodyPr>
            <a:normAutofit/>
          </a:bodyPr>
          <a:lstStyle/>
          <a:p>
            <a:pPr algn="l"/>
            <a:r>
              <a:rPr lang="en-US" sz="1800" dirty="0">
                <a:solidFill>
                  <a:srgbClr val="454240"/>
                </a:solidFill>
                <a:latin typeface="Bahnschrift Light Condensed" panose="020B0502040204020203" pitchFamily="34" charset="0"/>
                <a:ea typeface="DM Sans" pitchFamily="34" charset="-122"/>
                <a:cs typeface="Arial" panose="020B0604020202020204" pitchFamily="34" charset="0"/>
              </a:rPr>
              <a:t>Uncovering insights from 3,900 purchases to guide strategic business decisions</a:t>
            </a:r>
            <a:endParaRPr lang="en-US" sz="1800" dirty="0">
              <a:latin typeface="Bahnschrift Light Condensed" panose="020B0502040204020203" pitchFamily="34" charset="0"/>
              <a:cs typeface="Arial" panose="020B0604020202020204" pitchFamily="34" charset="0"/>
            </a:endParaRPr>
          </a:p>
          <a:p>
            <a:pPr algn="l"/>
            <a:endParaRPr lang="en-US" sz="1800" dirty="0">
              <a:latin typeface="Bahnschrift Light Condensed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70" t="-3281" r="30434" b="-411"/>
          <a:stretch/>
        </p:blipFill>
        <p:spPr>
          <a:xfrm>
            <a:off x="0" y="-253218"/>
            <a:ext cx="4994031" cy="7111218"/>
          </a:xfrm>
          <a:prstGeom prst="rect">
            <a:avLst/>
          </a:prstGeom>
          <a:noFill/>
          <a:ln>
            <a:noFill/>
          </a:ln>
          <a:effectLst>
            <a:softEdge rad="508000"/>
          </a:effectLst>
        </p:spPr>
      </p:pic>
    </p:spTree>
    <p:extLst>
      <p:ext uri="{BB962C8B-B14F-4D97-AF65-F5344CB8AC3E}">
        <p14:creationId xmlns:p14="http://schemas.microsoft.com/office/powerpoint/2010/main" val="290637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59067" y="3336756"/>
            <a:ext cx="609885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600" dirty="0" smtClean="0">
                <a:solidFill>
                  <a:schemeClr val="accent2">
                    <a:lumMod val="50000"/>
                  </a:schemeClr>
                </a:solidFill>
                <a:latin typeface="Baskerville Old Face" panose="02020602080505020303" pitchFamily="18" charset="0"/>
              </a:rPr>
              <a:t>Dataset overview</a:t>
            </a:r>
            <a:endParaRPr lang="en-US" sz="6600" dirty="0">
              <a:solidFill>
                <a:schemeClr val="accent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76334" y="4354337"/>
            <a:ext cx="211931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smtClean="0">
                <a:latin typeface="Baskerville Old Face" panose="02020602080505020303" pitchFamily="18" charset="0"/>
              </a:rPr>
              <a:t>3,900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9660" y="5275806"/>
            <a:ext cx="2500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Baskerville Old Face" panose="02020602080505020303" pitchFamily="18" charset="0"/>
              </a:rPr>
              <a:t>Total Purchases</a:t>
            </a:r>
            <a:endParaRPr lang="en-US" sz="2400" dirty="0">
              <a:latin typeface="Baskerville Old Face" panose="02020602080505020303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4341" y="5671002"/>
            <a:ext cx="3543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Comprehensive</a:t>
            </a:r>
            <a:r>
              <a:rPr lang="en-US" dirty="0" smtClean="0"/>
              <a:t> transaction data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631652" y="4313246"/>
            <a:ext cx="14058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smtClean="0">
                <a:latin typeface="Baskerville Old Face" panose="02020602080505020303" pitchFamily="18" charset="0"/>
              </a:rPr>
              <a:t>18</a:t>
            </a:r>
            <a:endParaRPr lang="en-US" sz="7200" dirty="0">
              <a:latin typeface="Baskerville Old Face" panose="02020602080505020303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58761" y="5335932"/>
            <a:ext cx="1957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Baskerville Old Face" panose="02020602080505020303" pitchFamily="18" charset="0"/>
              </a:rPr>
              <a:t>Data column</a:t>
            </a:r>
            <a:endParaRPr lang="en-US" sz="2400" dirty="0">
              <a:latin typeface="Baskerville Old Face" panose="02020602080505020303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24373" y="5698241"/>
            <a:ext cx="3729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Customer demographics &amp; behavior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9401175" y="4359413"/>
            <a:ext cx="21145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smtClean="0">
                <a:latin typeface="Baskerville Old Face" panose="02020602080505020303" pitchFamily="18" charset="0"/>
              </a:rPr>
              <a:t>37</a:t>
            </a:r>
            <a:endParaRPr lang="en-US" sz="6600" dirty="0">
              <a:latin typeface="Baskerville Old Face" panose="02020602080505020303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065894" y="5236576"/>
            <a:ext cx="2443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Baskerville Old Face" panose="02020602080505020303" pitchFamily="18" charset="0"/>
              </a:rPr>
              <a:t>Missing Values</a:t>
            </a:r>
            <a:endParaRPr lang="en-US" sz="2400" dirty="0">
              <a:latin typeface="Baskerville Old Face" panose="02020602080505020303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49162" y="5686690"/>
            <a:ext cx="3171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Only in Review Rating Column</a:t>
            </a:r>
            <a:endParaRPr lang="en-US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86" t="12540" r="-1" b="11998"/>
          <a:stretch/>
        </p:blipFill>
        <p:spPr>
          <a:xfrm>
            <a:off x="-164308" y="-114301"/>
            <a:ext cx="12465846" cy="3596493"/>
          </a:xfrm>
          <a:prstGeom prst="rect">
            <a:avLst/>
          </a:prstGeom>
          <a:effectLst>
            <a:softEdge rad="88900"/>
          </a:effectLst>
        </p:spPr>
      </p:pic>
    </p:spTree>
    <p:extLst>
      <p:ext uri="{BB962C8B-B14F-4D97-AF65-F5344CB8AC3E}">
        <p14:creationId xmlns:p14="http://schemas.microsoft.com/office/powerpoint/2010/main" val="29400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/>
          <p:cNvSpPr/>
          <p:nvPr/>
        </p:nvSpPr>
        <p:spPr>
          <a:xfrm>
            <a:off x="479823" y="965358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Baskerville Old Face" panose="02020602080505020303" pitchFamily="18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>
              <a:latin typeface="Baskerville Old Face" panose="02020602080505020303" pitchFamily="18" charset="0"/>
            </a:endParaRPr>
          </a:p>
        </p:txBody>
      </p:sp>
      <p:sp>
        <p:nvSpPr>
          <p:cNvPr id="10" name="Text 1"/>
          <p:cNvSpPr/>
          <p:nvPr/>
        </p:nvSpPr>
        <p:spPr>
          <a:xfrm>
            <a:off x="566976" y="240041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11" name="Shape 2"/>
          <p:cNvSpPr/>
          <p:nvPr/>
        </p:nvSpPr>
        <p:spPr>
          <a:xfrm>
            <a:off x="566976" y="2946735"/>
            <a:ext cx="3371978" cy="45719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2" name="Text 3"/>
          <p:cNvSpPr/>
          <p:nvPr/>
        </p:nvSpPr>
        <p:spPr>
          <a:xfrm>
            <a:off x="566976" y="31799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13" name="Text 4"/>
          <p:cNvSpPr/>
          <p:nvPr/>
        </p:nvSpPr>
        <p:spPr>
          <a:xfrm>
            <a:off x="566976" y="3608899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14" name="Text 5"/>
          <p:cNvSpPr/>
          <p:nvPr/>
        </p:nvSpPr>
        <p:spPr>
          <a:xfrm>
            <a:off x="4345425" y="242997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5" name="Shape 6"/>
          <p:cNvSpPr/>
          <p:nvPr/>
        </p:nvSpPr>
        <p:spPr>
          <a:xfrm flipV="1">
            <a:off x="4345425" y="2912566"/>
            <a:ext cx="3984188" cy="45719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6" name="Text 7"/>
          <p:cNvSpPr/>
          <p:nvPr/>
        </p:nvSpPr>
        <p:spPr>
          <a:xfrm>
            <a:off x="4345425" y="31409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7" name="Text 8"/>
          <p:cNvSpPr/>
          <p:nvPr/>
        </p:nvSpPr>
        <p:spPr>
          <a:xfrm>
            <a:off x="4345425" y="3550681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8" name="Text 9"/>
          <p:cNvSpPr/>
          <p:nvPr/>
        </p:nvSpPr>
        <p:spPr>
          <a:xfrm>
            <a:off x="8541783" y="240041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9" name="Shape 10"/>
          <p:cNvSpPr/>
          <p:nvPr/>
        </p:nvSpPr>
        <p:spPr>
          <a:xfrm flipV="1">
            <a:off x="8552141" y="2870534"/>
            <a:ext cx="3106459" cy="45719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0" name="Text 11"/>
          <p:cNvSpPr/>
          <p:nvPr/>
        </p:nvSpPr>
        <p:spPr>
          <a:xfrm>
            <a:off x="8552141" y="313795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21" name="Text 12"/>
          <p:cNvSpPr/>
          <p:nvPr/>
        </p:nvSpPr>
        <p:spPr>
          <a:xfrm>
            <a:off x="8552141" y="3550681"/>
            <a:ext cx="35350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22" name="Text 13"/>
          <p:cNvSpPr/>
          <p:nvPr/>
        </p:nvSpPr>
        <p:spPr>
          <a:xfrm>
            <a:off x="566976" y="43600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23" name="Shape 14"/>
          <p:cNvSpPr/>
          <p:nvPr/>
        </p:nvSpPr>
        <p:spPr>
          <a:xfrm>
            <a:off x="479824" y="4859441"/>
            <a:ext cx="5189456" cy="45719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4" name="Text 15"/>
          <p:cNvSpPr/>
          <p:nvPr/>
        </p:nvSpPr>
        <p:spPr>
          <a:xfrm>
            <a:off x="447794" y="5045681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25" name="Text 16"/>
          <p:cNvSpPr/>
          <p:nvPr/>
        </p:nvSpPr>
        <p:spPr>
          <a:xfrm>
            <a:off x="447794" y="5425098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26" name="Text 17"/>
          <p:cNvSpPr/>
          <p:nvPr/>
        </p:nvSpPr>
        <p:spPr>
          <a:xfrm>
            <a:off x="6443003" y="436209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7" name="Shape 18"/>
          <p:cNvSpPr/>
          <p:nvPr/>
        </p:nvSpPr>
        <p:spPr>
          <a:xfrm>
            <a:off x="6443003" y="4900360"/>
            <a:ext cx="5215597" cy="45719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8" name="Text 19"/>
          <p:cNvSpPr/>
          <p:nvPr/>
        </p:nvSpPr>
        <p:spPr>
          <a:xfrm>
            <a:off x="6443003" y="5044763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9" name="Text 20"/>
          <p:cNvSpPr/>
          <p:nvPr/>
        </p:nvSpPr>
        <p:spPr>
          <a:xfrm>
            <a:off x="6337519" y="543067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227312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6997496" y="4109281"/>
            <a:ext cx="4821262" cy="988571"/>
          </a:xfrm>
          <a:prstGeom prst="rect">
            <a:avLst/>
          </a:prstGeom>
          <a:solidFill>
            <a:schemeClr val="bg1">
              <a:alpha val="50000"/>
            </a:schemeClr>
          </a:solidFill>
          <a:ln w="9525" cap="sq">
            <a:solidFill>
              <a:schemeClr val="accent4">
                <a:lumMod val="50000"/>
                <a:alpha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1308990322"/>
              </p:ext>
            </p:extLst>
          </p:nvPr>
        </p:nvGraphicFramePr>
        <p:xfrm>
          <a:off x="1957388" y="1614488"/>
          <a:ext cx="4829175" cy="3943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729829" y="829592"/>
            <a:ext cx="6627135" cy="7848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5550"/>
              </a:lnSpc>
            </a:pPr>
            <a:r>
              <a:rPr lang="en-US" sz="4400" dirty="0">
                <a:solidFill>
                  <a:srgbClr val="5C4E3D"/>
                </a:solidFill>
                <a:latin typeface="Baskerville Old Face" panose="02020602080505020303" pitchFamily="18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00" dirty="0">
              <a:latin typeface="Baskerville Old Face" panose="02020602080505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655092" y="5843588"/>
            <a:ext cx="216695" cy="21431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88670" y="5843588"/>
            <a:ext cx="269080" cy="21431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871787" y="5743574"/>
            <a:ext cx="1500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Male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4857750" y="5743574"/>
            <a:ext cx="942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Female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997495" y="2494378"/>
            <a:ext cx="3564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onstantia" panose="02030602050306030303" pitchFamily="18" charset="0"/>
              </a:rPr>
              <a:t>Key Insight</a:t>
            </a:r>
            <a:endParaRPr lang="en-US" sz="2800" dirty="0">
              <a:latin typeface="Constantia" panose="02030602050306030303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110037" y="3223260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719" y="4275812"/>
            <a:ext cx="312489" cy="250017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527818" y="4185504"/>
            <a:ext cx="4290939" cy="836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7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263308" y="4756910"/>
            <a:ext cx="5138472" cy="880088"/>
          </a:xfrm>
          <a:prstGeom prst="rect">
            <a:avLst/>
          </a:prstGeom>
          <a:solidFill>
            <a:schemeClr val="accent4">
              <a:lumMod val="75000"/>
              <a:alpha val="50000"/>
            </a:schemeClr>
          </a:solidFill>
          <a:ln w="9525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" t="-207" r="4171" b="-1"/>
          <a:stretch/>
        </p:blipFill>
        <p:spPr>
          <a:xfrm>
            <a:off x="-505808" y="-42863"/>
            <a:ext cx="6940208" cy="6900863"/>
          </a:xfrm>
          <a:prstGeom prst="rect">
            <a:avLst/>
          </a:prstGeom>
          <a:effectLst>
            <a:glow rad="25400">
              <a:schemeClr val="accent4">
                <a:lumMod val="60000"/>
                <a:lumOff val="40000"/>
                <a:alpha val="0"/>
              </a:schemeClr>
            </a:glow>
            <a:softEdge rad="1143000"/>
          </a:effectLst>
        </p:spPr>
      </p:pic>
      <p:sp>
        <p:nvSpPr>
          <p:cNvPr id="3" name="TextBox 2"/>
          <p:cNvSpPr txBox="1"/>
          <p:nvPr/>
        </p:nvSpPr>
        <p:spPr>
          <a:xfrm>
            <a:off x="6263308" y="1657349"/>
            <a:ext cx="441835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Baskerville Old Face" panose="02020602080505020303" pitchFamily="18" charset="0"/>
              </a:rPr>
              <a:t>High-Value  Discount </a:t>
            </a:r>
            <a:r>
              <a:rPr lang="en-US" sz="4000" dirty="0" smtClean="0">
                <a:latin typeface="Baskerville Old Face" panose="02020602080505020303" pitchFamily="18" charset="0"/>
              </a:rPr>
              <a:t>Users</a:t>
            </a:r>
            <a:endParaRPr lang="en-US" sz="3600" dirty="0">
              <a:latin typeface="Baskerville Old Face" panose="02020602080505020303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63308" y="2990337"/>
            <a:ext cx="5471370" cy="4237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850"/>
              </a:lnSpc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6263308" y="3663266"/>
            <a:ext cx="5138472" cy="880088"/>
          </a:xfrm>
          <a:prstGeom prst="rect">
            <a:avLst/>
          </a:prstGeom>
          <a:solidFill>
            <a:schemeClr val="bg1">
              <a:alpha val="50000"/>
            </a:schemeClr>
          </a:solidFill>
          <a:ln w="9525" cap="sq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263308" y="3679316"/>
            <a:ext cx="2038085" cy="42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750"/>
              </a:lnSpc>
            </a:pPr>
            <a:r>
              <a:rPr lang="en-US" dirty="0" smtClean="0">
                <a:solidFill>
                  <a:srgbClr val="454240"/>
                </a:solidFill>
                <a:latin typeface="Constantia" panose="02030602050306030303" pitchFamily="18" charset="0"/>
                <a:ea typeface="Libre Baskerville" pitchFamily="34" charset="-122"/>
                <a:cs typeface="Libre Baskerville" pitchFamily="34" charset="-120"/>
              </a:rPr>
              <a:t> Smart </a:t>
            </a:r>
            <a:r>
              <a:rPr lang="en-US" dirty="0">
                <a:solidFill>
                  <a:srgbClr val="454240"/>
                </a:solidFill>
                <a:latin typeface="Constantia" panose="02030602050306030303" pitchFamily="18" charset="0"/>
                <a:ea typeface="Libre Baskerville" pitchFamily="34" charset="-122"/>
                <a:cs typeface="Libre Baskerville" pitchFamily="34" charset="-120"/>
              </a:rPr>
              <a:t>Shoppers</a:t>
            </a:r>
            <a:endParaRPr lang="en-US" dirty="0">
              <a:latin typeface="Constantia" panose="02030602050306030303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63308" y="4008219"/>
            <a:ext cx="4396653" cy="4253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850"/>
              </a:lnSpc>
            </a:pPr>
            <a:r>
              <a:rPr lang="en-US" sz="1600" dirty="0" smtClean="0">
                <a:solidFill>
                  <a:srgbClr val="454240"/>
                </a:solidFill>
                <a:ea typeface="DM Sans" pitchFamily="34" charset="-122"/>
                <a:cs typeface="DM Sans" pitchFamily="34" charset="-120"/>
              </a:rPr>
              <a:t> High spenders who maximize value with discounts</a:t>
            </a:r>
            <a:endParaRPr lang="en-US" sz="1600" dirty="0"/>
          </a:p>
        </p:txBody>
      </p:sp>
      <p:sp>
        <p:nvSpPr>
          <p:cNvPr id="12" name="Rectangle 11"/>
          <p:cNvSpPr/>
          <p:nvPr/>
        </p:nvSpPr>
        <p:spPr>
          <a:xfrm>
            <a:off x="6263308" y="4798144"/>
            <a:ext cx="2372573" cy="42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750"/>
              </a:lnSpc>
            </a:pPr>
            <a:r>
              <a:rPr lang="en-US" dirty="0">
                <a:solidFill>
                  <a:srgbClr val="454240"/>
                </a:solidFill>
                <a:latin typeface="Constantia" panose="02030602050306030303" pitchFamily="18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dirty="0">
              <a:latin typeface="Constantia" panose="02030602050306030303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63308" y="5081463"/>
            <a:ext cx="4147674" cy="4253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850"/>
              </a:lnSpc>
            </a:pPr>
            <a:r>
              <a:rPr lang="en-US" sz="1600" dirty="0">
                <a:solidFill>
                  <a:srgbClr val="454240"/>
                </a:solidFill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5218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4654" y="598401"/>
            <a:ext cx="5141151" cy="8104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5550"/>
              </a:lnSpc>
            </a:pPr>
            <a:r>
              <a:rPr lang="en-US" sz="4800" dirty="0">
                <a:solidFill>
                  <a:srgbClr val="5C4E3D"/>
                </a:solidFill>
                <a:latin typeface="Baskerville Old Face" panose="02020602080505020303" pitchFamily="18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800" dirty="0">
              <a:latin typeface="Baskerville Old Face" panose="02020602080505020303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19" y="2063043"/>
            <a:ext cx="382667" cy="34016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150" y="2063043"/>
            <a:ext cx="382667" cy="340162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681" y="2063043"/>
            <a:ext cx="382667" cy="340162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361" y="2063043"/>
            <a:ext cx="382667" cy="340162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146" y="2063043"/>
            <a:ext cx="382667" cy="3401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32124" y="1971514"/>
            <a:ext cx="822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Californian FB" panose="0207040306080B030204" pitchFamily="18" charset="0"/>
              </a:rPr>
              <a:t>5</a:t>
            </a:r>
            <a:endParaRPr lang="en-US" sz="2400" b="1" dirty="0"/>
          </a:p>
        </p:txBody>
      </p:sp>
      <p:sp>
        <p:nvSpPr>
          <p:cNvPr id="11" name="Rectangle 10"/>
          <p:cNvSpPr/>
          <p:nvPr/>
        </p:nvSpPr>
        <p:spPr>
          <a:xfrm>
            <a:off x="492619" y="2641823"/>
            <a:ext cx="1135247" cy="4535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750"/>
              </a:lnSpc>
            </a:pPr>
            <a:r>
              <a:rPr lang="en-US" sz="2800" dirty="0">
                <a:solidFill>
                  <a:srgbClr val="454240"/>
                </a:solidFill>
                <a:latin typeface="Goudy Old Style" panose="02020502050305020303" pitchFamily="18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800" dirty="0">
              <a:latin typeface="Goudy Old Style" panose="02020502050305020303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92619" y="3082952"/>
            <a:ext cx="3198311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249" y="2063043"/>
            <a:ext cx="382667" cy="340162"/>
          </a:xfrm>
          <a:prstGeom prst="rect">
            <a:avLst/>
          </a:prstGeom>
        </p:spPr>
      </p:pic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37" y="2063043"/>
            <a:ext cx="382667" cy="340162"/>
          </a:xfrm>
          <a:prstGeom prst="rect">
            <a:avLst/>
          </a:prstGeom>
        </p:spPr>
      </p:pic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74" y="2063043"/>
            <a:ext cx="382667" cy="340162"/>
          </a:xfrm>
          <a:prstGeom prst="rect">
            <a:avLst/>
          </a:prstGeom>
        </p:spPr>
      </p:pic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356" y="2063043"/>
            <a:ext cx="382667" cy="340162"/>
          </a:xfrm>
          <a:prstGeom prst="rect">
            <a:avLst/>
          </a:prstGeom>
        </p:spPr>
      </p:pic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294" y="2063043"/>
            <a:ext cx="382667" cy="34016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72017" y="1971514"/>
            <a:ext cx="822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Californian FB" panose="0207040306080B030204" pitchFamily="18" charset="0"/>
              </a:rPr>
              <a:t>5</a:t>
            </a:r>
            <a:endParaRPr lang="en-US" sz="2400" b="1" dirty="0"/>
          </a:p>
        </p:txBody>
      </p:sp>
      <p:sp>
        <p:nvSpPr>
          <p:cNvPr id="31" name="Text 5"/>
          <p:cNvSpPr/>
          <p:nvPr/>
        </p:nvSpPr>
        <p:spPr>
          <a:xfrm>
            <a:off x="4134609" y="2637549"/>
            <a:ext cx="2835235" cy="393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Georgia" panose="02040502050405020303" pitchFamily="18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800" dirty="0">
              <a:latin typeface="Georgia" panose="02040502050405020303" pitchFamily="18" charset="0"/>
            </a:endParaRPr>
          </a:p>
        </p:txBody>
      </p:sp>
      <p:sp>
        <p:nvSpPr>
          <p:cNvPr id="32" name="Text 6"/>
          <p:cNvSpPr/>
          <p:nvPr/>
        </p:nvSpPr>
        <p:spPr>
          <a:xfrm>
            <a:off x="4092709" y="3113709"/>
            <a:ext cx="4158615" cy="402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sp>
        <p:nvSpPr>
          <p:cNvPr id="33" name="Text 8"/>
          <p:cNvSpPr/>
          <p:nvPr/>
        </p:nvSpPr>
        <p:spPr>
          <a:xfrm>
            <a:off x="492039" y="53748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54240"/>
                </a:solidFill>
                <a:latin typeface="Georgia" panose="02040502050405020303" pitchFamily="18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800" dirty="0">
              <a:latin typeface="Georgia" panose="02040502050405020303" pitchFamily="18" charset="0"/>
            </a:endParaRPr>
          </a:p>
        </p:txBody>
      </p:sp>
      <p:sp>
        <p:nvSpPr>
          <p:cNvPr id="34" name="Text 9"/>
          <p:cNvSpPr/>
          <p:nvPr/>
        </p:nvSpPr>
        <p:spPr>
          <a:xfrm>
            <a:off x="492039" y="585568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162669" y="1649912"/>
            <a:ext cx="4839119" cy="4839119"/>
          </a:xfrm>
          <a:prstGeom prst="rect">
            <a:avLst/>
          </a:prstGeom>
          <a:ln>
            <a:noFill/>
          </a:ln>
          <a:effectLst>
            <a:glow rad="63500">
              <a:schemeClr val="bg1"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39" y="4586051"/>
            <a:ext cx="382667" cy="340162"/>
          </a:xfrm>
          <a:prstGeom prst="rect">
            <a:avLst/>
          </a:prstGeom>
        </p:spPr>
      </p:pic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139" y="4599573"/>
            <a:ext cx="382667" cy="340162"/>
          </a:xfrm>
          <a:prstGeom prst="rect">
            <a:avLst/>
          </a:prstGeom>
        </p:spPr>
      </p:pic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079" y="4599573"/>
            <a:ext cx="382667" cy="340162"/>
          </a:xfrm>
          <a:prstGeom prst="rect">
            <a:avLst/>
          </a:prstGeom>
        </p:spPr>
      </p:pic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019" y="4599573"/>
            <a:ext cx="382667" cy="340162"/>
          </a:xfrm>
          <a:prstGeom prst="rect">
            <a:avLst/>
          </a:prstGeom>
        </p:spPr>
      </p:pic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29959" y="4599573"/>
            <a:ext cx="382667" cy="3401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2533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058" y="1137736"/>
            <a:ext cx="5538909" cy="511868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39249" y="551847"/>
            <a:ext cx="6838732" cy="15589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5550"/>
              </a:lnSpc>
            </a:pPr>
            <a:r>
              <a:rPr lang="en-US" sz="6000" dirty="0">
                <a:solidFill>
                  <a:schemeClr val="tx2">
                    <a:lumMod val="50000"/>
                  </a:schemeClr>
                </a:solidFill>
                <a:latin typeface="Baskerville Old Face" panose="02020602080505020303" pitchFamily="18" charset="0"/>
                <a:ea typeface="Libre Baskerville" pitchFamily="34" charset="-122"/>
                <a:cs typeface="Libre Baskerville" pitchFamily="34" charset="-120"/>
              </a:rPr>
              <a:t>Shipping </a:t>
            </a:r>
            <a:r>
              <a:rPr lang="en-US" sz="6000" dirty="0" smtClean="0">
                <a:solidFill>
                  <a:schemeClr val="tx2">
                    <a:lumMod val="50000"/>
                  </a:schemeClr>
                </a:solidFill>
                <a:latin typeface="Baskerville Old Face" panose="02020602080505020303" pitchFamily="18" charset="0"/>
                <a:ea typeface="Libre Baskerville" pitchFamily="34" charset="-122"/>
                <a:cs typeface="Libre Baskerville" pitchFamily="34" charset="-120"/>
              </a:rPr>
              <a:t>Preferences </a:t>
            </a:r>
          </a:p>
          <a:p>
            <a:pPr>
              <a:lnSpc>
                <a:spcPts val="5550"/>
              </a:lnSpc>
            </a:pPr>
            <a:r>
              <a:rPr lang="en-US" sz="6000" dirty="0" smtClean="0">
                <a:solidFill>
                  <a:schemeClr val="tx2">
                    <a:lumMod val="50000"/>
                  </a:schemeClr>
                </a:solidFill>
                <a:latin typeface="Baskerville Old Face" panose="02020602080505020303" pitchFamily="18" charset="0"/>
                <a:ea typeface="Libre Baskerville" pitchFamily="34" charset="-122"/>
                <a:cs typeface="Libre Baskerville" pitchFamily="34" charset="-120"/>
              </a:rPr>
              <a:t>Impact</a:t>
            </a:r>
            <a:endParaRPr lang="en-US" sz="6000" dirty="0">
              <a:solidFill>
                <a:schemeClr val="tx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39249" y="2321044"/>
            <a:ext cx="2651688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750"/>
              </a:lnSpc>
            </a:pPr>
            <a:r>
              <a:rPr lang="en-US" sz="2500" dirty="0">
                <a:solidFill>
                  <a:srgbClr val="5C4E3D"/>
                </a:solidFill>
                <a:latin typeface="Georgia" panose="02040502050405020303" pitchFamily="18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500" dirty="0">
              <a:latin typeface="Georgia" panose="02040502050405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40458" y="2345928"/>
            <a:ext cx="2837636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750"/>
              </a:lnSpc>
            </a:pPr>
            <a:r>
              <a:rPr lang="en-US" sz="2500" dirty="0">
                <a:solidFill>
                  <a:srgbClr val="5C4E3D"/>
                </a:solidFill>
                <a:latin typeface="Georgia" panose="02040502050405020303" pitchFamily="18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500" dirty="0">
              <a:latin typeface="Georgia" panose="02040502050405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5202" y="3010977"/>
            <a:ext cx="2372198" cy="1528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1150"/>
              </a:lnSpc>
            </a:pPr>
            <a:r>
              <a:rPr lang="en-US" sz="9600" dirty="0">
                <a:solidFill>
                  <a:srgbClr val="5C4E3D"/>
                </a:solidFill>
                <a:latin typeface="DM Sans" panose="02000000000000000000" charset="-120"/>
                <a:ea typeface="DM Sans" panose="02000000000000000000" charset="-120"/>
                <a:cs typeface="DM Sans" panose="02000000000000000000" charset="-120"/>
              </a:rPr>
              <a:t>$65</a:t>
            </a:r>
            <a:endParaRPr lang="en-US" sz="9600" dirty="0">
              <a:latin typeface="DM Sans" panose="02000000000000000000" charset="-120"/>
              <a:ea typeface="DM Sans" panose="02000000000000000000" charset="-120"/>
              <a:cs typeface="DM Sans" panose="02000000000000000000" charset="-12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38241" y="3010977"/>
            <a:ext cx="2562672" cy="1528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1150"/>
              </a:lnSpc>
            </a:pPr>
            <a:r>
              <a:rPr lang="en-US" sz="9600" dirty="0" smtClean="0">
                <a:solidFill>
                  <a:srgbClr val="5C4E3D"/>
                </a:solidFill>
                <a:latin typeface="DM Sans" panose="02000000000000000000" charset="-120"/>
                <a:ea typeface="DM Sans" panose="02000000000000000000" charset="-120"/>
                <a:cs typeface="DM Sans" panose="02000000000000000000" charset="-120"/>
              </a:rPr>
              <a:t>$58</a:t>
            </a:r>
            <a:endParaRPr lang="en-US" sz="9600" dirty="0">
              <a:latin typeface="DM Sans" panose="02000000000000000000" charset="-120"/>
              <a:ea typeface="DM Sans" panose="02000000000000000000" charset="-120"/>
              <a:cs typeface="DM Sans" panose="02000000000000000000" charset="-12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8117" y="4539601"/>
            <a:ext cx="2886368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3376391" y="4539601"/>
            <a:ext cx="2886368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60409" y="5238959"/>
            <a:ext cx="6096000" cy="8108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850"/>
              </a:lnSpc>
            </a:pPr>
            <a:r>
              <a:rPr lang="en-US" sz="2000" dirty="0">
                <a:solidFill>
                  <a:srgbClr val="454240"/>
                </a:solidFill>
                <a:ea typeface="Cambria" panose="02040503050406030204" pitchFamily="18" charset="0"/>
                <a:cs typeface="DM Sans" pitchFamily="34" charset="-120"/>
              </a:rPr>
              <a:t>Express shipping customers spend 12% more per transaction</a:t>
            </a:r>
            <a:endParaRPr lang="en-US" sz="2000" dirty="0"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238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6696" y="440982"/>
            <a:ext cx="5724644" cy="8198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5550"/>
              </a:lnSpc>
            </a:pPr>
            <a:r>
              <a:rPr lang="en-US" sz="5400" dirty="0">
                <a:solidFill>
                  <a:schemeClr val="accent4">
                    <a:lumMod val="50000"/>
                  </a:schemeClr>
                </a:solidFill>
                <a:latin typeface="Baskerville Old Face" panose="02020602080505020303" pitchFamily="18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5400" dirty="0">
              <a:solidFill>
                <a:schemeClr val="accent4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604752319"/>
              </p:ext>
            </p:extLst>
          </p:nvPr>
        </p:nvGraphicFramePr>
        <p:xfrm>
          <a:off x="8454189" y="1174440"/>
          <a:ext cx="5237747" cy="3984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2626409792"/>
              </p:ext>
            </p:extLst>
          </p:nvPr>
        </p:nvGraphicFramePr>
        <p:xfrm>
          <a:off x="466696" y="1174440"/>
          <a:ext cx="5237747" cy="3984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4021925855"/>
              </p:ext>
            </p:extLst>
          </p:nvPr>
        </p:nvGraphicFramePr>
        <p:xfrm>
          <a:off x="4460443" y="1156829"/>
          <a:ext cx="5237747" cy="3984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543904" y="2876440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Baskerville Old Face" panose="02020602080505020303" pitchFamily="18" charset="0"/>
              </a:rPr>
              <a:t>68%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8493" y="2876440"/>
            <a:ext cx="24063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latin typeface="Baskerville Old Face" panose="02020602080505020303" pitchFamily="18" charset="0"/>
              </a:rPr>
              <a:t>45%</a:t>
            </a:r>
            <a:endParaRPr lang="en-US" sz="5400" dirty="0">
              <a:latin typeface="Baskerville Old Face" panose="02020602080505020303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22846" y="2876440"/>
            <a:ext cx="28113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latin typeface="Baskerville Old Face" panose="02020602080505020303" pitchFamily="18" charset="0"/>
              </a:rPr>
              <a:t>78%</a:t>
            </a:r>
            <a:endParaRPr lang="en-US" sz="5400" dirty="0">
              <a:latin typeface="Baskerville Old Face" panose="02020602080505020303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8850" y="5190503"/>
            <a:ext cx="2594371" cy="451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400" dirty="0" smtClean="0">
                <a:solidFill>
                  <a:srgbClr val="454240"/>
                </a:solidFill>
                <a:latin typeface="Georgia" panose="02040502050405020303" pitchFamily="18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400" dirty="0">
              <a:latin typeface="Georgia" panose="02040502050405020303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6231" y="5732559"/>
            <a:ext cx="3993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DM Sans" panose="020B0604020202020204" charset="0"/>
              </a:rPr>
              <a:t>Subscribers vs non-subscribers</a:t>
            </a:r>
            <a:endParaRPr lang="en-US" dirty="0">
              <a:latin typeface="DM Sans" panose="020B060402020202020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283469" y="5158715"/>
            <a:ext cx="2215670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400" dirty="0">
                <a:solidFill>
                  <a:srgbClr val="454240"/>
                </a:solidFill>
                <a:latin typeface="Georgia" panose="02040502050405020303" pitchFamily="18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400" dirty="0">
              <a:latin typeface="Georgia" panose="02040502050405020303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300548" y="5141104"/>
            <a:ext cx="1896674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400" dirty="0">
                <a:solidFill>
                  <a:srgbClr val="454240"/>
                </a:solidFill>
                <a:latin typeface="Georgia" panose="02040502050405020303" pitchFamily="18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400" dirty="0">
              <a:latin typeface="Georgia" panose="02040502050405020303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837793" y="5685110"/>
            <a:ext cx="3147015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8739497" y="5685110"/>
            <a:ext cx="3018775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257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8832" y="321426"/>
            <a:ext cx="5564344" cy="7848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5550"/>
              </a:lnSpc>
            </a:pPr>
            <a:r>
              <a:rPr lang="en-US" sz="4400" dirty="0">
                <a:solidFill>
                  <a:schemeClr val="accent2">
                    <a:lumMod val="50000"/>
                  </a:schemeClr>
                </a:solidFill>
                <a:latin typeface="Baskerville Old Face" panose="02020602080505020303" pitchFamily="18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00" dirty="0">
              <a:solidFill>
                <a:schemeClr val="accent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" name="Isosceles Triangle 3"/>
          <p:cNvSpPr/>
          <p:nvPr/>
        </p:nvSpPr>
        <p:spPr>
          <a:xfrm>
            <a:off x="465220" y="1475873"/>
            <a:ext cx="7267073" cy="4170948"/>
          </a:xfrm>
          <a:prstGeom prst="triangle">
            <a:avLst/>
          </a:prstGeom>
          <a:solidFill>
            <a:schemeClr val="accent2">
              <a:lumMod val="60000"/>
              <a:lumOff val="40000"/>
              <a:alpha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2358189" y="3336758"/>
            <a:ext cx="3424987" cy="0"/>
          </a:xfrm>
          <a:prstGeom prst="line">
            <a:avLst/>
          </a:prstGeom>
          <a:ln w="444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291387" y="4572000"/>
            <a:ext cx="5614737" cy="0"/>
          </a:xfrm>
          <a:prstGeom prst="line">
            <a:avLst/>
          </a:prstGeom>
          <a:ln w="508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900567" y="2326334"/>
            <a:ext cx="1665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DM Sans" panose="02000000000000000000" charset="-120"/>
                <a:ea typeface="DM Sans" panose="02000000000000000000" charset="-120"/>
                <a:cs typeface="DM Sans" panose="02000000000000000000" charset="-120"/>
              </a:rPr>
              <a:t>1</a:t>
            </a:r>
            <a:endParaRPr lang="en-US" sz="2800" dirty="0">
              <a:latin typeface="DM Sans" panose="02000000000000000000" charset="-120"/>
              <a:ea typeface="DM Sans" panose="02000000000000000000" charset="-120"/>
              <a:cs typeface="DM Sans" panose="02000000000000000000" charset="-12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900567" y="3521242"/>
            <a:ext cx="9930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>
                <a:latin typeface="DM Sans" panose="02000000000000000000" charset="-120"/>
                <a:ea typeface="DM Sans" panose="02000000000000000000" charset="-120"/>
                <a:cs typeface="DM Sans" panose="02000000000000000000" charset="-120"/>
              </a:rPr>
              <a:t>2</a:t>
            </a:r>
            <a:endParaRPr lang="en-US" sz="4400" dirty="0">
              <a:latin typeface="DM Sans" panose="02000000000000000000" charset="-120"/>
              <a:ea typeface="DM Sans" panose="02000000000000000000" charset="-120"/>
              <a:cs typeface="DM Sans" panose="02000000000000000000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900567" y="4588042"/>
            <a:ext cx="1796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DM Sans" panose="02000000000000000000" charset="-120"/>
                <a:ea typeface="DM Sans" panose="02000000000000000000" charset="-120"/>
                <a:cs typeface="DM Sans" panose="02000000000000000000" charset="-120"/>
              </a:rPr>
              <a:t>3</a:t>
            </a:r>
            <a:endParaRPr lang="en-US" sz="1200" dirty="0">
              <a:latin typeface="DM Sans" panose="02000000000000000000" charset="-120"/>
              <a:ea typeface="DM Sans" panose="02000000000000000000" charset="-120"/>
              <a:cs typeface="DM Sans" panose="02000000000000000000" charset="-120"/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5994739" y="3336758"/>
            <a:ext cx="6000328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955249" y="4538521"/>
            <a:ext cx="4996119" cy="33479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994739" y="2269958"/>
            <a:ext cx="1055097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750"/>
              </a:lnSpc>
            </a:pPr>
            <a:r>
              <a:rPr lang="en-US" sz="2800" dirty="0">
                <a:solidFill>
                  <a:srgbClr val="454240"/>
                </a:solidFill>
                <a:latin typeface="Georgia" panose="02040502050405020303" pitchFamily="18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800" dirty="0">
              <a:latin typeface="Georgia" panose="02040502050405020303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996710" y="2719361"/>
            <a:ext cx="3070071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6801853" y="3575508"/>
            <a:ext cx="1798890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750"/>
              </a:lnSpc>
            </a:pPr>
            <a:r>
              <a:rPr lang="en-US" sz="2800" dirty="0">
                <a:solidFill>
                  <a:srgbClr val="454240"/>
                </a:solidFill>
                <a:latin typeface="Georgia" panose="02040502050405020303" pitchFamily="18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800" dirty="0">
              <a:latin typeface="Georgia" panose="02040502050405020303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801853" y="4029098"/>
            <a:ext cx="2672526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7597932" y="4730850"/>
            <a:ext cx="898003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750"/>
              </a:lnSpc>
            </a:pPr>
            <a:r>
              <a:rPr lang="en-US" sz="2800" dirty="0">
                <a:solidFill>
                  <a:srgbClr val="454240"/>
                </a:solidFill>
                <a:latin typeface="Georgia" panose="02040502050405020303" pitchFamily="18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800" dirty="0">
              <a:latin typeface="Georgia" panose="02040502050405020303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597932" y="5174298"/>
            <a:ext cx="2569934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845884" y="6003486"/>
            <a:ext cx="6109365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41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5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2" r="10909"/>
          <a:stretch/>
        </p:blipFill>
        <p:spPr>
          <a:xfrm>
            <a:off x="0" y="0"/>
            <a:ext cx="5417128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77346" y="211094"/>
            <a:ext cx="6301230" cy="592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850"/>
              </a:lnSpc>
            </a:pPr>
            <a:r>
              <a:rPr lang="en-US" sz="3200" dirty="0">
                <a:solidFill>
                  <a:srgbClr val="5C4E3D"/>
                </a:solidFill>
                <a:latin typeface="+mj-lt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200" dirty="0">
              <a:latin typeface="+mj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777346" y="850314"/>
            <a:ext cx="6040582" cy="1338705"/>
          </a:xfrm>
          <a:prstGeom prst="roundRect">
            <a:avLst/>
          </a:prstGeom>
          <a:solidFill>
            <a:schemeClr val="accent2">
              <a:lumMod val="60000"/>
              <a:lumOff val="4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Connector 12"/>
          <p:cNvSpPr/>
          <p:nvPr/>
        </p:nvSpPr>
        <p:spPr>
          <a:xfrm>
            <a:off x="5963231" y="998057"/>
            <a:ext cx="443346" cy="370061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9176" y="1050927"/>
            <a:ext cx="211455" cy="26431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732814" y="2431472"/>
            <a:ext cx="6040582" cy="1302327"/>
          </a:xfrm>
          <a:prstGeom prst="roundRect">
            <a:avLst/>
          </a:prstGeom>
          <a:solidFill>
            <a:schemeClr val="accent2">
              <a:lumMod val="60000"/>
              <a:lumOff val="4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900"/>
              </a:lnSpc>
            </a:pPr>
            <a:r>
              <a:rPr lang="en-US" sz="1600" dirty="0" smtClean="0">
                <a:solidFill>
                  <a:srgbClr val="454240"/>
                </a:solidFill>
                <a:latin typeface="DM Sans" panose="02000000000000000000" charset="-120"/>
                <a:ea typeface="DM Sans" panose="02000000000000000000" charset="-120"/>
                <a:cs typeface="DM Sans" panose="02000000000000000000" charset="-120"/>
              </a:rPr>
              <a:t>Loyalty Programs</a:t>
            </a:r>
            <a:endParaRPr lang="en-US" sz="1600" dirty="0">
              <a:latin typeface="DM Sans" panose="02000000000000000000" charset="-120"/>
              <a:ea typeface="DM Sans" panose="02000000000000000000" charset="-120"/>
              <a:cs typeface="DM Sans" panose="02000000000000000000" charset="-12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775043" y="3920980"/>
            <a:ext cx="6040582" cy="1302327"/>
          </a:xfrm>
          <a:prstGeom prst="roundRect">
            <a:avLst/>
          </a:prstGeom>
          <a:solidFill>
            <a:schemeClr val="accent2">
              <a:lumMod val="60000"/>
              <a:lumOff val="4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5777346" y="5361708"/>
            <a:ext cx="6040582" cy="1357747"/>
          </a:xfrm>
          <a:prstGeom prst="roundRect">
            <a:avLst/>
          </a:prstGeom>
          <a:solidFill>
            <a:schemeClr val="accent2">
              <a:lumMod val="60000"/>
              <a:lumOff val="4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857504" y="1382215"/>
            <a:ext cx="1962397" cy="3359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900"/>
              </a:lnSpc>
            </a:pPr>
            <a:r>
              <a:rPr lang="en-US" sz="1600" dirty="0">
                <a:solidFill>
                  <a:srgbClr val="454240"/>
                </a:solidFill>
                <a:latin typeface="DM Sans" panose="02000000000000000000" charset="-120"/>
                <a:ea typeface="DM Sans" panose="02000000000000000000" charset="-120"/>
                <a:cs typeface="DM Sans" panose="02000000000000000000" charset="-120"/>
              </a:rPr>
              <a:t>Boost Subscriptions</a:t>
            </a:r>
            <a:endParaRPr lang="en-US" sz="1600" dirty="0">
              <a:latin typeface="DM Sans" panose="02000000000000000000" charset="-120"/>
              <a:ea typeface="DM Sans" panose="02000000000000000000" charset="-120"/>
              <a:cs typeface="DM Sans" panose="02000000000000000000" charset="-12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857504" y="1704109"/>
            <a:ext cx="3259034" cy="3320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950"/>
              </a:lnSpc>
            </a:pPr>
            <a:r>
              <a:rPr lang="en-US" sz="1400" dirty="0">
                <a:solidFill>
                  <a:srgbClr val="454240"/>
                </a:solidFill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400" dirty="0"/>
          </a:p>
        </p:txBody>
      </p:sp>
      <p:sp>
        <p:nvSpPr>
          <p:cNvPr id="20" name="Flowchart: Connector 19"/>
          <p:cNvSpPr/>
          <p:nvPr/>
        </p:nvSpPr>
        <p:spPr>
          <a:xfrm>
            <a:off x="5982860" y="2505823"/>
            <a:ext cx="443346" cy="375907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lowchart: Connector 20"/>
          <p:cNvSpPr/>
          <p:nvPr/>
        </p:nvSpPr>
        <p:spPr>
          <a:xfrm>
            <a:off x="5963230" y="4032203"/>
            <a:ext cx="443346" cy="401252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lowchart: Connector 21"/>
          <p:cNvSpPr/>
          <p:nvPr/>
        </p:nvSpPr>
        <p:spPr>
          <a:xfrm>
            <a:off x="5963897" y="5509185"/>
            <a:ext cx="443346" cy="406706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806" y="2572792"/>
            <a:ext cx="211455" cy="264319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5963230" y="2984588"/>
            <a:ext cx="184731" cy="3359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900"/>
              </a:lnSpc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777346" y="3227850"/>
            <a:ext cx="3349058" cy="3320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950"/>
              </a:lnSpc>
            </a:pPr>
            <a:r>
              <a:rPr lang="en-US" sz="1400" dirty="0">
                <a:solidFill>
                  <a:srgbClr val="454240"/>
                </a:solidFill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4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4935" y="4091768"/>
            <a:ext cx="225696" cy="282121"/>
          </a:xfrm>
          <a:prstGeom prst="rect">
            <a:avLst/>
          </a:prstGeom>
        </p:spPr>
      </p:pic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0697" y="5544781"/>
            <a:ext cx="268410" cy="33551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75043" y="4487935"/>
            <a:ext cx="1973617" cy="3359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900"/>
              </a:lnSpc>
            </a:pPr>
            <a:r>
              <a:rPr lang="en-US" sz="1600" dirty="0">
                <a:solidFill>
                  <a:srgbClr val="454240"/>
                </a:solidFill>
                <a:latin typeface="DM Sans" panose="02000000000000000000" charset="-120"/>
                <a:ea typeface="DM Sans" panose="02000000000000000000" charset="-120"/>
                <a:cs typeface="DM Sans" panose="02000000000000000000" charset="-120"/>
              </a:rPr>
              <a:t>Targeted Marketing</a:t>
            </a:r>
            <a:endParaRPr lang="en-US" sz="1600" dirty="0">
              <a:latin typeface="DM Sans" panose="02000000000000000000" charset="-120"/>
              <a:ea typeface="DM Sans" panose="02000000000000000000" charset="-120"/>
              <a:cs typeface="DM Sans" panose="02000000000000000000" charset="-12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75043" y="4752828"/>
            <a:ext cx="3910429" cy="3320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950"/>
              </a:lnSpc>
            </a:pPr>
            <a:r>
              <a:rPr lang="en-US" sz="1400" dirty="0">
                <a:solidFill>
                  <a:srgbClr val="454240"/>
                </a:solidFill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400" dirty="0"/>
          </a:p>
        </p:txBody>
      </p:sp>
      <p:sp>
        <p:nvSpPr>
          <p:cNvPr id="8" name="Rectangle 7"/>
          <p:cNvSpPr/>
          <p:nvPr/>
        </p:nvSpPr>
        <p:spPr>
          <a:xfrm>
            <a:off x="5775043" y="6029477"/>
            <a:ext cx="1959191" cy="3359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900"/>
              </a:lnSpc>
            </a:pPr>
            <a:r>
              <a:rPr lang="en-US" sz="1600" dirty="0">
                <a:solidFill>
                  <a:srgbClr val="454240"/>
                </a:solidFill>
                <a:latin typeface="DM Sans" panose="02000000000000000000" charset="-120"/>
                <a:ea typeface="DM Sans" panose="02000000000000000000" charset="-120"/>
                <a:cs typeface="DM Sans" panose="02000000000000000000" charset="-120"/>
              </a:rPr>
              <a:t>Product Positioning</a:t>
            </a:r>
            <a:endParaRPr lang="en-US" sz="1600" dirty="0">
              <a:latin typeface="DM Sans" panose="02000000000000000000" charset="-120"/>
              <a:ea typeface="DM Sans" panose="02000000000000000000" charset="-120"/>
              <a:cs typeface="DM Sans" panose="02000000000000000000" charset="-12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775043" y="6288586"/>
            <a:ext cx="3247427" cy="3320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950"/>
              </a:lnSpc>
            </a:pPr>
            <a:r>
              <a:rPr lang="en-US" sz="1400" dirty="0">
                <a:solidFill>
                  <a:srgbClr val="454240"/>
                </a:solidFill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28655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3174</TotalTime>
  <Words>273</Words>
  <Application>Microsoft Office PowerPoint</Application>
  <PresentationFormat>Widescreen</PresentationFormat>
  <Paragraphs>93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4" baseType="lpstr">
      <vt:lpstr>DM Sans</vt:lpstr>
      <vt:lpstr>Libre Baskerville</vt:lpstr>
      <vt:lpstr>Arial</vt:lpstr>
      <vt:lpstr>Bahnschrift Light Condensed</vt:lpstr>
      <vt:lpstr>Baskerville Old Face</vt:lpstr>
      <vt:lpstr>Calibri</vt:lpstr>
      <vt:lpstr>Calibri Light</vt:lpstr>
      <vt:lpstr>Californian FB</vt:lpstr>
      <vt:lpstr>Cambria</vt:lpstr>
      <vt:lpstr>Constantia</vt:lpstr>
      <vt:lpstr>Georgia</vt:lpstr>
      <vt:lpstr>Goudy Old Style</vt:lpstr>
      <vt:lpstr>Libre Baskerville Light</vt:lpstr>
      <vt:lpstr>Office Theme</vt:lpstr>
      <vt:lpstr>Customer shopping behavior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Core i5</dc:creator>
  <cp:lastModifiedBy>Core i5</cp:lastModifiedBy>
  <cp:revision>42</cp:revision>
  <dcterms:created xsi:type="dcterms:W3CDTF">2026-03-26T09:24:16Z</dcterms:created>
  <dcterms:modified xsi:type="dcterms:W3CDTF">2026-04-01T11:06:01Z</dcterms:modified>
</cp:coreProperties>
</file>